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28"/>
  </p:notesMasterIdLst>
  <p:sldIdLst>
    <p:sldId id="308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</p:sldIdLst>
  <p:sldSz cx="12192000" cy="6858000"/>
  <p:notesSz cx="6858000" cy="9144000"/>
  <p:defaultTextStyle>
    <a:defPPr>
      <a:defRPr lang="en-US"/>
    </a:defPPr>
    <a:lvl1pPr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609585"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1219170"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828754"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2438339" algn="l" defTabSz="609585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3047924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3657509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4267093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4876678" algn="l" defTabSz="609585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2" pos="7584" userDrawn="1">
          <p15:clr>
            <a:srgbClr val="A4A3A4"/>
          </p15:clr>
        </p15:guide>
        <p15:guide id="3" pos="96" userDrawn="1">
          <p15:clr>
            <a:srgbClr val="A4A3A4"/>
          </p15:clr>
        </p15:guide>
        <p15:guide id="4" orient="horz" pos="432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orient="horz" pos="4272" userDrawn="1">
          <p15:clr>
            <a:srgbClr val="A4A3A4"/>
          </p15:clr>
        </p15:guide>
        <p15:guide id="7" orient="horz" pos="23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6B42BC-232C-1B31-2F66-11E0C6A06947}" name="Lin, Wencheng" initials="WL" userId="S::linwenc1@msu.edu::36ffcdf2-0340-42f2-84fd-c7c3931a5f3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53B"/>
    <a:srgbClr val="277489"/>
    <a:srgbClr val="899BD1"/>
    <a:srgbClr val="5289B0"/>
    <a:srgbClr val="1C4B44"/>
    <a:srgbClr val="1C6068"/>
    <a:srgbClr val="67C521"/>
    <a:srgbClr val="0C533A"/>
    <a:srgbClr val="064339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3" autoAdjust="0"/>
    <p:restoredTop sz="90026" autoAdjust="0"/>
  </p:normalViewPr>
  <p:slideViewPr>
    <p:cSldViewPr snapToGrid="0" snapToObjects="1" showGuides="1">
      <p:cViewPr varScale="1">
        <p:scale>
          <a:sx n="184" d="100"/>
          <a:sy n="184" d="100"/>
        </p:scale>
        <p:origin x="4120" y="192"/>
      </p:cViewPr>
      <p:guideLst>
        <p:guide pos="7584"/>
        <p:guide pos="96"/>
        <p:guide orient="horz" pos="432"/>
        <p:guide pos="3840"/>
        <p:guide orient="horz" pos="4272"/>
        <p:guide orient="horz" pos="23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B5622-A318-4F33-AEF7-47F130D521A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3BB59-22F0-40C3-BE7F-0B9878828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4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3BB59-22F0-40C3-BE7F-0B98788283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77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3BB59-22F0-40C3-BE7F-0B987882838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87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3BB59-22F0-40C3-BE7F-0B987882838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02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5969000" cy="65023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800" b="0" i="0" baseline="0">
                <a:solidFill>
                  <a:schemeClr val="bg1"/>
                </a:solidFill>
                <a:latin typeface="Gotham-Bold"/>
                <a:cs typeface="Gotham-Bold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9670"/>
            <a:ext cx="10972800" cy="4066495"/>
          </a:xfrm>
          <a:prstGeom prst="rect">
            <a:avLst/>
          </a:prstGeom>
        </p:spPr>
        <p:txBody>
          <a:bodyPr/>
          <a:lstStyle>
            <a:lvl1pPr>
              <a:buClr>
                <a:srgbClr val="18453B"/>
              </a:buClr>
              <a:buFont typeface="Arial"/>
              <a:buChar char="•"/>
              <a:defRPr sz="2800" b="0" i="0">
                <a:solidFill>
                  <a:srgbClr val="595959"/>
                </a:solidFill>
                <a:latin typeface="Gotham Book"/>
                <a:cs typeface="Gotham Book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buSzPct val="85000"/>
              <a:buFont typeface="Arial"/>
              <a:buChar char="•"/>
              <a:defRPr sz="2400" b="0" i="0">
                <a:solidFill>
                  <a:srgbClr val="595959"/>
                </a:solidFill>
                <a:latin typeface="Gotham Book"/>
                <a:cs typeface="Gotham Book"/>
              </a:defRPr>
            </a:lvl2pPr>
            <a:lvl3pPr>
              <a:buClr>
                <a:schemeClr val="tx1">
                  <a:lumMod val="75000"/>
                  <a:lumOff val="25000"/>
                </a:schemeClr>
              </a:buClr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  <a:cs typeface="Gotham Book"/>
              </a:defRPr>
            </a:lvl3pPr>
            <a:lvl4pPr>
              <a:defRPr b="0" i="0">
                <a:latin typeface="Gotham Book"/>
                <a:cs typeface="Gotham Book"/>
              </a:defRPr>
            </a:lvl4pPr>
            <a:lvl5pPr>
              <a:defRPr b="0" i="0">
                <a:latin typeface="Gotham Book"/>
                <a:cs typeface="Gotham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Gotham Book" charset="0"/>
                <a:ea typeface="Gotham Book" charset="0"/>
                <a:cs typeface="Gotham Book" charset="0"/>
              </a:defRPr>
            </a:lvl1pPr>
          </a:lstStyle>
          <a:p>
            <a:pPr>
              <a:defRPr/>
            </a:pPr>
            <a:fld id="{3FC62664-ABC0-4667-BA1D-9FE4302FCC3D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cs typeface="Gotham Book"/>
              </a:defRPr>
            </a:lvl1pPr>
          </a:lstStyle>
          <a:p>
            <a:pPr>
              <a:defRPr/>
            </a:pPr>
            <a:r>
              <a:rPr lang="en-US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75"/>
            <a:ext cx="28448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Gotham Book" charset="0"/>
                <a:ea typeface="Gotham Book" charset="0"/>
                <a:cs typeface="Gotham Book" charset="0"/>
              </a:defRPr>
            </a:lvl1pPr>
          </a:lstStyle>
          <a:p>
            <a:pPr>
              <a:defRPr/>
            </a:pPr>
            <a:fld id="{0B4461CB-4CA9-2A43-A3FA-624E1DA485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728842"/>
            <a:ext cx="10363200" cy="130196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 i="0" baseline="0">
                <a:ln>
                  <a:noFill/>
                </a:ln>
                <a:solidFill>
                  <a:srgbClr val="18453B"/>
                </a:solidFill>
                <a:latin typeface="Gotham-Bold"/>
                <a:cs typeface="Gotham-Bold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030807"/>
            <a:ext cx="10363200" cy="21023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cs typeface="Gotham Book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Gotham Book" charset="0"/>
                <a:ea typeface="Gotham Book" charset="0"/>
                <a:cs typeface="Gotham Book" charset="0"/>
              </a:defRPr>
            </a:lvl1pPr>
          </a:lstStyle>
          <a:p>
            <a:pPr>
              <a:defRPr/>
            </a:pPr>
            <a:fld id="{220AE473-B829-449A-B535-39263889233D}" type="datetime1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cs typeface="Gotham Book"/>
              </a:defRPr>
            </a:lvl1pPr>
          </a:lstStyle>
          <a:p>
            <a:pPr>
              <a:defRPr/>
            </a:pPr>
            <a:r>
              <a:rPr lang="en-US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Gotham Book" charset="0"/>
                <a:ea typeface="Gotham Book" charset="0"/>
                <a:cs typeface="Gotham Book" charset="0"/>
              </a:defRPr>
            </a:lvl1pPr>
          </a:lstStyle>
          <a:p>
            <a:pPr>
              <a:defRPr/>
            </a:pPr>
            <a:fld id="{205D934E-3E61-264D-8682-F58928E18B8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03155"/>
            <a:ext cx="12192000" cy="87509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 i="0" baseline="0">
                <a:solidFill>
                  <a:srgbClr val="18453B"/>
                </a:solidFill>
                <a:latin typeface="Gotham-Bold"/>
                <a:cs typeface="Gotham-Bold"/>
              </a:defRPr>
            </a:lvl1pPr>
          </a:lstStyle>
          <a:p>
            <a:r>
              <a:rPr lang="en-US" dirty="0"/>
              <a:t>2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9668"/>
            <a:ext cx="5267605" cy="4296683"/>
          </a:xfrm>
          <a:prstGeom prst="rect">
            <a:avLst/>
          </a:prstGeom>
        </p:spPr>
        <p:txBody>
          <a:bodyPr/>
          <a:lstStyle>
            <a:lvl1pPr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cs typeface="Gotham Book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buSzPct val="85000"/>
              <a:buFont typeface="Arial"/>
              <a:buChar char="•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cs typeface="Gotham Book"/>
              </a:defRPr>
            </a:lvl2pPr>
            <a:lvl3pPr>
              <a:buClr>
                <a:schemeClr val="tx1">
                  <a:lumMod val="75000"/>
                  <a:lumOff val="25000"/>
                </a:schemeClr>
              </a:buClr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  <a:cs typeface="Gotham Book"/>
              </a:defRPr>
            </a:lvl3pPr>
            <a:lvl4pPr>
              <a:defRPr b="0" i="0">
                <a:latin typeface="Gotham Book"/>
                <a:cs typeface="Gotham Book"/>
              </a:defRPr>
            </a:lvl4pPr>
            <a:lvl5pPr>
              <a:defRPr b="0" i="0">
                <a:latin typeface="Gotham Book"/>
                <a:cs typeface="Gotham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Gotham Book" charset="0"/>
                <a:ea typeface="Gotham Book" charset="0"/>
                <a:cs typeface="Gotham Book" charset="0"/>
              </a:defRPr>
            </a:lvl1pPr>
          </a:lstStyle>
          <a:p>
            <a:pPr>
              <a:defRPr/>
            </a:pPr>
            <a:fld id="{D68874BE-87DC-478D-8971-F12C931A798B}" type="datetime1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cs typeface="Gotham Book"/>
              </a:defRPr>
            </a:lvl1pPr>
          </a:lstStyle>
          <a:p>
            <a:pPr>
              <a:defRPr/>
            </a:pPr>
            <a:r>
              <a:rPr lang="en-US"/>
              <a:t>Footer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595959"/>
                </a:solidFill>
                <a:latin typeface="Gotham Book" charset="0"/>
                <a:ea typeface="Gotham Book" charset="0"/>
                <a:cs typeface="Gotham Book" charset="0"/>
              </a:defRPr>
            </a:lvl1pPr>
          </a:lstStyle>
          <a:p>
            <a:pPr>
              <a:defRPr/>
            </a:pPr>
            <a:fld id="{4599938D-0427-3542-974E-F7CD887B38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314795" y="2059668"/>
            <a:ext cx="5267605" cy="4296683"/>
          </a:xfrm>
          <a:prstGeom prst="rect">
            <a:avLst/>
          </a:prstGeom>
        </p:spPr>
        <p:txBody>
          <a:bodyPr/>
          <a:lstStyle>
            <a:lvl1pPr>
              <a:buClr>
                <a:schemeClr val="tx1">
                  <a:lumMod val="75000"/>
                  <a:lumOff val="25000"/>
                </a:schemeClr>
              </a:buClr>
              <a:buFont typeface="Wingdings" charset="2"/>
              <a:buChar char="§"/>
              <a:defRPr sz="2800" b="0" i="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cs typeface="Gotham Book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buFont typeface="Wingdings" charset="2"/>
              <a:buChar char="§"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cs typeface="Gotham Book"/>
              </a:defRPr>
            </a:lvl2pPr>
            <a:lvl3pPr>
              <a:buClr>
                <a:schemeClr val="tx1">
                  <a:lumMod val="75000"/>
                  <a:lumOff val="25000"/>
                </a:schemeClr>
              </a:buClr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Gotham Book"/>
                <a:cs typeface="Gotham Book"/>
              </a:defRPr>
            </a:lvl3pPr>
            <a:lvl4pPr>
              <a:defRPr b="0" i="0">
                <a:latin typeface="Gotham Book"/>
                <a:cs typeface="Gotham Book"/>
              </a:defRPr>
            </a:lvl4pPr>
            <a:lvl5pPr>
              <a:defRPr b="0" i="0">
                <a:latin typeface="Gotham Book"/>
                <a:cs typeface="Gotham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Masthead" descr="Green bar with white Michigan State University logo">
            <a:extLst>
              <a:ext uri="{FF2B5EF4-FFF2-40B4-BE49-F238E27FC236}">
                <a16:creationId xmlns:a16="http://schemas.microsoft.com/office/drawing/2014/main" id="{F751423D-460A-8D48-BFE6-94DFB5FF1A34}"/>
              </a:ext>
            </a:extLst>
          </p:cNvPr>
          <p:cNvGrpSpPr/>
          <p:nvPr userDrawn="1"/>
        </p:nvGrpSpPr>
        <p:grpSpPr>
          <a:xfrm>
            <a:off x="0" y="1"/>
            <a:ext cx="12192000" cy="701241"/>
            <a:chOff x="0" y="0"/>
            <a:chExt cx="9144000" cy="52593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53D9AC-16D2-B046-844D-A5AA6F592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0212"/>
              <a:ext cx="9144000" cy="45719"/>
            </a:xfrm>
            <a:prstGeom prst="rect">
              <a:avLst/>
            </a:prstGeom>
            <a:solidFill>
              <a:srgbClr val="67C52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0306FB2-2B78-0E4C-A04D-646E74CE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9144000" cy="490559"/>
            </a:xfrm>
            <a:prstGeom prst="rect">
              <a:avLst/>
            </a:prstGeom>
            <a:solidFill>
              <a:srgbClr val="18453B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Michigan State University logo">
              <a:extLst>
                <a:ext uri="{FF2B5EF4-FFF2-40B4-BE49-F238E27FC236}">
                  <a16:creationId xmlns:a16="http://schemas.microsoft.com/office/drawing/2014/main" id="{A35C5DD8-D6DD-3C44-AEF7-4C8A984CFC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6109791" y="124350"/>
              <a:ext cx="2914883" cy="246063"/>
            </a:xfrm>
            <a:prstGeom prst="rect">
              <a:avLst/>
            </a:prstGeom>
          </p:spPr>
        </p:pic>
      </p:grp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ea typeface="+mn-ea"/>
                <a:cs typeface="+mn-cs"/>
              </a:defRPr>
            </a:lvl1pPr>
          </a:lstStyle>
          <a:p>
            <a:pPr>
              <a:defRPr/>
            </a:pPr>
            <a:fld id="{28FC4498-F1F7-4F2E-B6C2-CD4D34C99214}" type="datetime1">
              <a:rPr lang="en-US" smtClean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7200" y="649130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ea typeface="+mn-ea"/>
                <a:cs typeface="+mn-cs"/>
              </a:defRPr>
            </a:lvl1pPr>
          </a:lstStyle>
          <a:p>
            <a:pPr>
              <a:defRPr/>
            </a:pPr>
            <a:fld id="{E1544D71-77D6-5B4F-A1FC-5CA064DBD1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</p:sldLayoutIdLst>
  <p:hf hdr="0" ftr="0" dt="0"/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Gotham Book"/>
          <a:ea typeface="ＭＳ Ｐゴシック" charset="-128"/>
          <a:cs typeface="ＭＳ Ｐゴシック" charset="-128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tham Book" charset="0"/>
          <a:ea typeface="ＭＳ Ｐゴシック" charset="-128"/>
          <a:cs typeface="ＭＳ Ｐゴシック" charset="-128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tham Book" charset="0"/>
          <a:ea typeface="ＭＳ Ｐゴシック" charset="-128"/>
          <a:cs typeface="ＭＳ Ｐゴシック" charset="-128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tham Book" charset="0"/>
          <a:ea typeface="ＭＳ Ｐゴシック" charset="-128"/>
          <a:cs typeface="ＭＳ Ｐゴシック" charset="-128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tham Book" charset="0"/>
          <a:ea typeface="ＭＳ Ｐゴシック" charset="-128"/>
          <a:cs typeface="ＭＳ Ｐゴシック" charset="-128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tham Book" charset="0"/>
          <a:ea typeface="ＭＳ Ｐゴシック" charset="-128"/>
          <a:cs typeface="ＭＳ Ｐゴシック" charset="-128"/>
        </a:defRPr>
      </a:lvl6pPr>
      <a:lvl7pPr marL="914377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tham Book" charset="0"/>
          <a:ea typeface="ＭＳ Ｐゴシック" charset="-128"/>
          <a:cs typeface="ＭＳ Ｐゴシック" charset="-128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tham Book" charset="0"/>
          <a:ea typeface="ＭＳ Ｐゴシック" charset="-128"/>
          <a:cs typeface="ＭＳ Ｐゴシック" charset="-128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otham Book" charset="0"/>
          <a:ea typeface="ＭＳ Ｐゴシック" charset="-128"/>
          <a:cs typeface="ＭＳ Ｐゴシック" charset="-128"/>
        </a:defRPr>
      </a:lvl9pPr>
    </p:titleStyle>
    <p:bodyStyle>
      <a:lvl1pPr marL="342891" indent="-342891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Gotham Book"/>
          <a:ea typeface="ＭＳ Ｐゴシック" charset="-128"/>
          <a:cs typeface="ＭＳ Ｐゴシック" charset="-128"/>
        </a:defRPr>
      </a:lvl1pPr>
      <a:lvl2pPr marL="742932" indent="-28574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Gotham Book"/>
          <a:ea typeface="ＭＳ Ｐゴシック" charset="-128"/>
          <a:cs typeface="+mn-cs"/>
        </a:defRPr>
      </a:lvl2pPr>
      <a:lvl3pPr marL="1142971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Gotham Book"/>
          <a:ea typeface="ＭＳ Ｐゴシック" charset="-128"/>
          <a:cs typeface="+mn-cs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Gotham Book"/>
          <a:ea typeface="ＭＳ Ｐゴシック" charset="-128"/>
          <a:cs typeface="+mn-cs"/>
        </a:defRPr>
      </a:lvl4pPr>
      <a:lvl5pPr marL="2057349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Gotham Book"/>
          <a:ea typeface="ＭＳ Ｐゴシック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 bwMode="auto">
          <a:xfrm>
            <a:off x="152400" y="1728789"/>
            <a:ext cx="11887200" cy="15367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/>
            <a:r>
              <a:rPr 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charset="0"/>
              </a:rPr>
              <a:t>Laser Induced Plasma</a:t>
            </a:r>
            <a:br>
              <a:rPr lang="en-US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charset="0"/>
              </a:rPr>
            </a:br>
            <a:br>
              <a:rPr lang="it-IT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charset="0"/>
              </a:rPr>
            </a:br>
            <a:endParaRPr lang="en-US" b="1" dirty="0">
              <a:latin typeface="Microsoft YaHei" panose="020B0503020204020204" pitchFamily="34" charset="-122"/>
              <a:ea typeface="Microsoft YaHei" panose="020B0503020204020204" pitchFamily="34" charset="-122"/>
              <a:cs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880" y="5121564"/>
            <a:ext cx="10826496" cy="996420"/>
          </a:xfrm>
        </p:spPr>
        <p:txBody>
          <a:bodyPr>
            <a:normAutofit lnSpcReduction="1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charset="0"/>
              </a:rPr>
              <a:t>Wencheng Lin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charset="0"/>
              </a:rPr>
              <a:t>Spark Group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charset="0"/>
              </a:rPr>
              <a:t>Department of Mechanical Engineering, Michigan State University, East Lansing, MI, US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8631CA-2440-AEB5-D849-8D7CD6158254}"/>
              </a:ext>
            </a:extLst>
          </p:cNvPr>
          <p:cNvSpPr txBox="1">
            <a:spLocks/>
          </p:cNvSpPr>
          <p:nvPr/>
        </p:nvSpPr>
        <p:spPr>
          <a:xfrm>
            <a:off x="690880" y="2824162"/>
            <a:ext cx="10826496" cy="15367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Gotham Book"/>
                <a:ea typeface="ＭＳ Ｐゴシック" charset="-128"/>
                <a:cs typeface="Gotham Book"/>
              </a:defRPr>
            </a:lvl1pPr>
            <a:lvl2pPr marL="457189" indent="0" algn="ctr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Gotham Book"/>
                <a:ea typeface="ＭＳ Ｐゴシック" charset="-128"/>
                <a:cs typeface="+mn-cs"/>
              </a:defRPr>
            </a:lvl2pPr>
            <a:lvl3pPr marL="914377" indent="0" algn="ctr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Gotham Book"/>
                <a:ea typeface="ＭＳ Ｐゴシック" charset="-128"/>
                <a:cs typeface="+mn-cs"/>
              </a:defRPr>
            </a:lvl3pPr>
            <a:lvl4pPr marL="1371566" indent="0" algn="ctr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/>
                <a:ea typeface="ＭＳ Ｐゴシック" charset="-128"/>
                <a:cs typeface="+mn-cs"/>
              </a:defRPr>
            </a:lvl4pPr>
            <a:lvl5pPr marL="1828754" indent="0" algn="ctr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Gotham Book"/>
                <a:ea typeface="ＭＳ Ｐゴシック" charset="-128"/>
                <a:cs typeface="+mn-cs"/>
              </a:defRPr>
            </a:lvl5pPr>
            <a:lvl6pPr marL="2285943" indent="0" algn="ctr" defTabSz="457189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457189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457189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457189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r>
              <a:rPr 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charset="0"/>
              </a:rPr>
              <a:t>This work is supported by Michigan State University faculty startup funding</a:t>
            </a:r>
          </a:p>
        </p:txBody>
      </p:sp>
    </p:spTree>
    <p:extLst>
      <p:ext uri="{BB962C8B-B14F-4D97-AF65-F5344CB8AC3E}">
        <p14:creationId xmlns:p14="http://schemas.microsoft.com/office/powerpoint/2010/main" val="440805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hot bands vanish at low temperature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669E86-6355-4BC4-E5A8-5D4A8528C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672" y="1050148"/>
            <a:ext cx="6414655" cy="533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35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ν</a:t>
            </a:r>
            <a:r>
              <a:rPr dirty="0"/>
              <a:t>₃: 0→1 (fundamental) — Combined </a:t>
            </a:r>
            <a:r>
              <a:rPr dirty="0" err="1"/>
              <a:t>ExoMol</a:t>
            </a:r>
            <a:r>
              <a:rPr dirty="0"/>
              <a:t> I1 + HITRAN — 300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FC95A-B8E3-5A03-2413-2580F650D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0_to_1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Strong fundamental band. At 300 K, nearly all molecules are in v₃ = 0. This is the only progression with significant absorbance.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300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40921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1→2 (1st hot band) — Combined ExoMol I1 + HITRAN — 300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5B1E4C-D697-0076-8151-C8F21510C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1_to_2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~10⁻⁷. The Boltzmann population of v₃ = 1 at 300 K is only 4.2×10⁻⁷ — less than 1 in a million molecules.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300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419434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2→3 (2nd hot band) — Combined ExoMol I1 + HITRAN — 300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D2F4D-D26A-5F86-5538-CB8D03708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2_to_3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~7×10⁻¹³. The v₃ = 2 population is the square of the v₃ = 1 factor, making this band essentially invisible.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300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196087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3→4 (3rd hot band) — Combined ExoMol I1 + HITRAN — 300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00F783-CDA7-260D-0AC3-7E0C00185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3_to_4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dirty="0"/>
              <a:t>Peak absorbance = 0 (</a:t>
            </a:r>
            <a:r>
              <a:rPr dirty="0" err="1"/>
              <a:t>peak_source</a:t>
            </a:r>
            <a:r>
              <a:rPr dirty="0"/>
              <a:t> = none). The v₃ = 3 population at 300 K is below floating-point significance.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300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236117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0→1 (fundamental) — Combined ExoMol I1 + HITRAN — 600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790EF-0E32-7FD3-EA02-3653D84A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0_to_1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Fundamental weakens compared to 300 K due to partition function dilution. Peak drops from ~1.6 to ~0.29 as population spreads to excited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600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4075838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1→2 (1st hot band) — Combined ExoMol I1 + HITRAN — 600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5A22B-8D0B-4D85-A5BE-215BE8904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1_to_2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~2×10⁻⁴. The v₃ = 1 population reaches 7.2×10⁻⁴ (1 in 1400), enough to produce measurable hot band absorption.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600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740680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2→3 (2nd hot band) — Combined ExoMol I1 + HITRAN — 600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17BC2-47D6-7232-CC70-D7DE4CB79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2_to_3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~2×10⁻⁷. Weak but nonzero — the v₃ = 2 population is 5.1×10⁻⁷ at 600 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600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276201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3→4 (3rd hot band) — Combined ExoMol I1 + HITRAN — 600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230138-31CE-889B-941D-6C237D2C6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3_to_4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~10⁻¹⁰. Extremely weak. The v₃ = 3 population at 600 K is still negligibly small.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600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3729184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0→1 (fundamental) — Combined ExoMol I1 + HITRAN — 1000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8DD5C-69CB-944A-C103-2D040F541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0_to_1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Fundamental continues to weaken (peak ~0.06). The Q(T)/Q(296) ratio significantly dilutes all transitions.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1000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3736160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1→2 (1st hot band) — Combined ExoMol I1 + HITRAN — 1000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E2C56-C336-EB94-122B-B9B4011B8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1_to_2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~6×10⁻⁴. This is near the peak for the 1→2 band — 1.3% of molecules now occupy v₃ = 1, but the partition function dilution will soon dominate.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1000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1898651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2→3 (2nd hot band) — Combined ExoMol I1 + HITRAN — 1000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F15FB-2E4D-C0BB-1DB6-4F559093D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2_to_3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~10⁻⁵. The v₃ = 2 population reaches 1.7×10⁻⁴, making this band clearly detectable.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1000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3715894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3→4 (3rd hot band) — Combined ExoMol I1 + HITRAN — 1000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6C02FA-A732-2CF6-E482-C44ECDD37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3_to_4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~9×10⁻⁸. Finally nonzero and measurable. The v₃ = 3 population at 1000 K is ~2.2×10⁻⁶.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1000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3095850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0→1 (fundamental) — Combined ExoMol I1 + HITRAN — 2500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9D8BFB-9657-7625-8041-809513934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0_to_1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Fundamental is now very weak (peak ~3×10⁻⁴). The partition function at 2500 K is orders of magnitude larger than at 296 K, heavily diluting all transitions.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2500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4190695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1→2 (1st hot band) — Combined ExoMol I1 + HITRAN — 2500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38119-3B9A-93DA-9CF1-B827AF3A6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1_to_2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~7×10⁻⁵. The 1→2 band has passed its peak and is declining — partition function dilution now outweighs the Boltzmann population 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2500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2770464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2→3 (2nd hot band) — Combined ExoMol I1 + HITRAN — 2500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985D3-65D8-815F-3868-B40E790E0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2_to_3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~9×10⁻⁶. Still growing — the v₃ = 2 Boltzmann factor has a steeper exponential rise (larger E″) so its peak temperature is higher.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2500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4041405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3→4 (3rd hot band) — Combined ExoMol I1 + HITRAN — 2500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1532B3-6194-1186-030B-E3FA6F1B9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3_to_4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Peak absorbance ~8×10⁻⁷. Still growing at 2500 K. The v₃ = 3 band would peak at even higher temperatures.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2500 K, P = 3 Torr, x = 0.008, L = 100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3266105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0→1 (fundamental) — Combined ExoMol I1 + HITRAN — 2500 K (pure CH₄, L = 1000 cm)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669AD-21FC-E5C6-5692-C1F070C7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0_to_1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Pure CH₄ with 10× longer path amplifies the fundamental by ~125×. Even at 2500 K the fundamental is clearly visible under these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2500 K, P = 3 Torr, x = 1.0, L = 1000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2902094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1→2 (1st hot band) — Combined ExoMol I1 + HITRAN — 2500 K (pure CH₄, L = 1000 cm)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2EEF8-3026-D72E-0CE4-19ED4917D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1_to_2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The amplified conditions (x=1.0, L=1000 cm) make the 1→2 hot band clearly visible. Compare with the dilute case at the same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2500 K, P = 3 Torr, x = 1.0, L = 1000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2602679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2→3 (2nd hot band) — Combined ExoMol I1 + HITRAN — 2500 K (pure CH₄, L = 1000 cm)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452112-6AF9-ED90-C29E-D59B0BB0E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2_to_3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The 2→3 band becomes clearly resolved with pure CH₄ and long path length. Individual J-pair structure is now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2500 K, P = 3 Torr, x = 1.0, L = 1000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1050177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3→4 (3rd hot band) — Combined ExoMol I1 + HITRAN — 2500 K (pure CH₄, L = 1000 cm)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57A09-5518-5E22-A8D7-03A47F54E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3_to_4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Even the 3→4 band shows resolved structure under these amplified conditions. This demonstrates that the transitions exist but require extreme sensitivity to detect.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2500 K, P = 3 Torr, x = 1.0, L = 1000 cm, Δν = 0.001 cm⁻¹</a:t>
            </a:r>
          </a:p>
        </p:txBody>
      </p:sp>
    </p:spTree>
    <p:extLst>
      <p:ext uri="{BB962C8B-B14F-4D97-AF65-F5344CB8AC3E}">
        <p14:creationId xmlns:p14="http://schemas.microsoft.com/office/powerpoint/2010/main" val="1027348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0→1 (fundamental) — ExoMol Direct — 600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DFA05-5949-E697-61DC-7B316A6BD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0_to_1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ExoMol direct rendering at 600 K. Line intensities computed at the target temperature using LTE formula, not scaled from 296 K reference. Broadening uses ExoMol default parameters from .def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600 K, P = 3 Torr, x = 0.008, L = 100 cm, Δν = 0.001 cm⁻¹</a:t>
            </a:r>
            <a:br/>
            <a:r>
              <a:t>Rendered directly from ExoMol MM database (γ₀ = 0.0488 cm⁻¹/bar, n = 0.4)</a:t>
            </a:r>
          </a:p>
        </p:txBody>
      </p:sp>
    </p:spTree>
    <p:extLst>
      <p:ext uri="{BB962C8B-B14F-4D97-AF65-F5344CB8AC3E}">
        <p14:creationId xmlns:p14="http://schemas.microsoft.com/office/powerpoint/2010/main" val="1911069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1→2 (1st hot band) — ExoMol Direct — 600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CFE108-B6A2-ED61-4803-02FF93CC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1_to_2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Compare with the Combined I1 result at 600 K. Differences arise from the broadening model: ExoMol uses a single γ₀ for all lines, while HAPI uses per-line broadening parameters.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600 K, P = 3 Torr, x = 0.008, L = 100 cm, Δν = 0.001 cm⁻¹</a:t>
            </a:r>
            <a:br/>
            <a:r>
              <a:t>Rendered directly from ExoMol MM database (γ₀ = 0.0488 cm⁻¹/bar, n = 0.4)</a:t>
            </a:r>
          </a:p>
        </p:txBody>
      </p:sp>
    </p:spTree>
    <p:extLst>
      <p:ext uri="{BB962C8B-B14F-4D97-AF65-F5344CB8AC3E}">
        <p14:creationId xmlns:p14="http://schemas.microsoft.com/office/powerpoint/2010/main" val="4071123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2→3 (2nd hot band) — ExoMol Direct — 600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08945-287E-7A03-BC13-F6AEF3205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2_to_3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ExoMol direct rendering of the 2→3 hot band. The line intensities are computed at 600 K using the ExoMol partition function (covers up to 5000 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600 K, P = 3 Torr, x = 0.008, L = 100 cm, Δν = 0.001 cm⁻¹</a:t>
            </a:r>
            <a:br/>
            <a:r>
              <a:t>Rendered directly from ExoMol MM database (γ₀ = 0.0488 cm⁻¹/bar, n = 0.4)</a:t>
            </a:r>
          </a:p>
        </p:txBody>
      </p:sp>
    </p:spTree>
    <p:extLst>
      <p:ext uri="{BB962C8B-B14F-4D97-AF65-F5344CB8AC3E}">
        <p14:creationId xmlns:p14="http://schemas.microsoft.com/office/powerpoint/2010/main" val="3627743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ν₃: 3→4 (3rd hot band) — ExoMol Direct — 600 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C27EE-AF6A-02D2-7C08-B8389455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u3_3_to_4_absorb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16940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8048" y="1097280"/>
            <a:ext cx="619658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ExoMol direct rendering of the 3→4 hot band at 600 K. This workflow can reach temperatures beyond HAPI's 2500 K limit.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666666"/>
                </a:solidFill>
              </a:defRPr>
            </a:pPr>
            <a:r>
              <a:t>T = 600 K, P = 3 Torr, x = 0.008, L = 100 cm, Δν = 0.001 cm⁻¹</a:t>
            </a:r>
            <a:br/>
            <a:r>
              <a:t>Rendered directly from ExoMol MM database (γ₀ = 0.0488 cm⁻¹/bar, n = 0.4)</a:t>
            </a:r>
          </a:p>
        </p:txBody>
      </p:sp>
    </p:spTree>
    <p:extLst>
      <p:ext uri="{BB962C8B-B14F-4D97-AF65-F5344CB8AC3E}">
        <p14:creationId xmlns:p14="http://schemas.microsoft.com/office/powerpoint/2010/main" val="1683942308"/>
      </p:ext>
    </p:extLst>
  </p:cSld>
  <p:clrMapOvr>
    <a:masterClrMapping/>
  </p:clrMapOvr>
</p:sld>
</file>

<file path=ppt/theme/theme1.xml><?xml version="1.0" encoding="utf-8"?>
<a:theme xmlns:a="http://schemas.openxmlformats.org/drawingml/2006/main" name="MSU Template 1 [1774913412107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wer-Point-Wordmark" id="{B922F58C-BBA5-F347-BA1F-BCD32A6C98C3}" vid="{F2D4553F-1312-E44A-AB7C-D98185B3D3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329AB2-4920-E84C-AF7C-5E0AAB2D74CB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22177130-642f-41d9-9211-74237ad5687d}" enabled="0" method="" siteId="{22177130-642f-41d9-9211-74237ad5687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MSU Template 1</Template>
  <TotalTime>8908</TotalTime>
  <Words>1908</Words>
  <Application>Microsoft Macintosh PowerPoint</Application>
  <PresentationFormat>Widescreen</PresentationFormat>
  <Paragraphs>81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Gotham Book</vt:lpstr>
      <vt:lpstr>Gotham-Bold</vt:lpstr>
      <vt:lpstr>Microsoft YaHei</vt:lpstr>
      <vt:lpstr>Aptos</vt:lpstr>
      <vt:lpstr>Arial</vt:lpstr>
      <vt:lpstr>Calibri</vt:lpstr>
      <vt:lpstr>Wingdings</vt:lpstr>
      <vt:lpstr>MSU Template 1 [1774913412107]</vt:lpstr>
      <vt:lpstr>Laser Induced Plasma  </vt:lpstr>
      <vt:lpstr>Why hot bands vanish at low temperature</vt:lpstr>
      <vt:lpstr>ν₃: 0→1 (fundamental) — Combined ExoMol I1 + HITRAN — 300 K</vt:lpstr>
      <vt:lpstr>ν₃: 1→2 (1st hot band) — Combined ExoMol I1 + HITRAN — 300 K</vt:lpstr>
      <vt:lpstr>ν₃: 2→3 (2nd hot band) — Combined ExoMol I1 + HITRAN — 300 K</vt:lpstr>
      <vt:lpstr>ν₃: 3→4 (3rd hot band) — Combined ExoMol I1 + HITRAN — 300 K</vt:lpstr>
      <vt:lpstr>ν₃: 0→1 (fundamental) — Combined ExoMol I1 + HITRAN — 600 K</vt:lpstr>
      <vt:lpstr>ν₃: 1→2 (1st hot band) — Combined ExoMol I1 + HITRAN — 600 K</vt:lpstr>
      <vt:lpstr>ν₃: 2→3 (2nd hot band) — Combined ExoMol I1 + HITRAN — 600 K</vt:lpstr>
      <vt:lpstr>ν₃: 3→4 (3rd hot band) — Combined ExoMol I1 + HITRAN — 600 K</vt:lpstr>
      <vt:lpstr>ν₃: 0→1 (fundamental) — Combined ExoMol I1 + HITRAN — 1000 K</vt:lpstr>
      <vt:lpstr>ν₃: 1→2 (1st hot band) — Combined ExoMol I1 + HITRAN — 1000 K</vt:lpstr>
      <vt:lpstr>ν₃: 2→3 (2nd hot band) — Combined ExoMol I1 + HITRAN — 1000 K</vt:lpstr>
      <vt:lpstr>ν₃: 3→4 (3rd hot band) — Combined ExoMol I1 + HITRAN — 1000 K</vt:lpstr>
      <vt:lpstr>ν₃: 0→1 (fundamental) — Combined ExoMol I1 + HITRAN — 2500 K</vt:lpstr>
      <vt:lpstr>ν₃: 1→2 (1st hot band) — Combined ExoMol I1 + HITRAN — 2500 K</vt:lpstr>
      <vt:lpstr>ν₃: 2→3 (2nd hot band) — Combined ExoMol I1 + HITRAN — 2500 K</vt:lpstr>
      <vt:lpstr>ν₃: 3→4 (3rd hot band) — Combined ExoMol I1 + HITRAN — 2500 K</vt:lpstr>
      <vt:lpstr>ν₃: 0→1 (fundamental) — Combined ExoMol I1 + HITRAN — 2500 K (pure CH₄, L = 1000 cm)</vt:lpstr>
      <vt:lpstr>ν₃: 1→2 (1st hot band) — Combined ExoMol I1 + HITRAN — 2500 K (pure CH₄, L = 1000 cm)</vt:lpstr>
      <vt:lpstr>ν₃: 2→3 (2nd hot band) — Combined ExoMol I1 + HITRAN — 2500 K (pure CH₄, L = 1000 cm)</vt:lpstr>
      <vt:lpstr>ν₃: 3→4 (3rd hot band) — Combined ExoMol I1 + HITRAN — 2500 K (pure CH₄, L = 1000 cm)</vt:lpstr>
      <vt:lpstr>ν₃: 0→1 (fundamental) — ExoMol Direct — 600 K</vt:lpstr>
      <vt:lpstr>ν₃: 1→2 (1st hot band) — ExoMol Direct — 600 K</vt:lpstr>
      <vt:lpstr>ν₃: 2→3 (2nd hot band) — ExoMol Direct — 600 K</vt:lpstr>
      <vt:lpstr>ν₃: 3→4 (3rd hot band) — ExoMol Direct — 600 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 Davies</dc:creator>
  <cp:lastModifiedBy>Lin, Wencheng</cp:lastModifiedBy>
  <cp:revision>71</cp:revision>
  <cp:lastPrinted>2010-09-08T13:46:11Z</cp:lastPrinted>
  <dcterms:created xsi:type="dcterms:W3CDTF">2019-05-04T17:37:47Z</dcterms:created>
  <dcterms:modified xsi:type="dcterms:W3CDTF">2026-03-30T23:38:46Z</dcterms:modified>
</cp:coreProperties>
</file>